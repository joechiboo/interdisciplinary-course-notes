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C85"/>
    <a:srgbClr val="C7E1EA"/>
    <a:srgbClr val="55A9D6"/>
    <a:srgbClr val="F2C2A4"/>
    <a:srgbClr val="F2DAB3"/>
    <a:srgbClr val="007D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88" autoAdjust="0"/>
  </p:normalViewPr>
  <p:slideViewPr>
    <p:cSldViewPr snapToGrid="0" showGuides="1">
      <p:cViewPr varScale="1">
        <p:scale>
          <a:sx n="80" d="100"/>
          <a:sy n="80" d="100"/>
        </p:scale>
        <p:origin x="96" y="7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90AB-F4CD-4235-93EB-2746C39A707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ED937-DEDD-48C4-8691-D6E87687CA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002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商業模式畫布圖是目前建立新商業模式時，最被廣為使用的一種工具，能夠幫助創業者或希望建立新商業模式者，透過從客戶區隔、客戶關係、渠道通道、價值主張、關鍵活動、核心資源、主要夥伴、成本結構、收入來源這九個關鍵因素，在最短時間內讓企業短時間內掌握服務或產品，能如何創造價值、傳遞價值、獲取價值的基本原理，並且也可以從中發想問題，提早確立選對目標客群，且合理解決問題的工具。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r>
              <a:rPr lang="zh-TW" altLang="en-US" dirty="0"/>
              <a:t>製作：中信金融管理學院人財育成中心</a:t>
            </a:r>
            <a:endParaRPr lang="en-US" altLang="zh-TW" dirty="0"/>
          </a:p>
          <a:p>
            <a:r>
              <a:rPr lang="zh-TW" altLang="en-US" dirty="0"/>
              <a:t>網址：</a:t>
            </a:r>
            <a:r>
              <a:rPr lang="en-US" altLang="zh-TW" dirty="0"/>
              <a:t>https://hacc.ctbc.edu.</a:t>
            </a:r>
            <a:r>
              <a:rPr lang="en-US" altLang="zh-TW"/>
              <a:t>tw/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ED937-DEDD-48C4-8691-D6E87687CAA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009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EEA6-614F-4FB4-A212-A86BC1436DB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28F-9203-4D29-B33A-4027BA7F29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786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EEA6-614F-4FB4-A212-A86BC1436DB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28F-9203-4D29-B33A-4027BA7F29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881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EEA6-614F-4FB4-A212-A86BC1436DB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28F-9203-4D29-B33A-4027BA7F29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1900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EEA6-614F-4FB4-A212-A86BC1436DB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28F-9203-4D29-B33A-4027BA7F29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839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EEA6-614F-4FB4-A212-A86BC1436DB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28F-9203-4D29-B33A-4027BA7F29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573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EEA6-614F-4FB4-A212-A86BC1436DB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28F-9203-4D29-B33A-4027BA7F29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810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EEA6-614F-4FB4-A212-A86BC1436DB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28F-9203-4D29-B33A-4027BA7F294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C7D22B2B-203B-42E3-BB22-62AE9D0F1A97}"/>
              </a:ext>
            </a:extLst>
          </p:cNvPr>
          <p:cNvSpPr txBox="1">
            <a:spLocks/>
          </p:cNvSpPr>
          <p:nvPr userDrawn="1"/>
        </p:nvSpPr>
        <p:spPr>
          <a:xfrm>
            <a:off x="6497687" y="6424613"/>
            <a:ext cx="290654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104DB-9953-4073-A8E0-06A3B37161A7}" type="slidenum">
              <a:rPr kumimoji="0" lang="zh-TW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B705BE54-5B06-4346-8B41-E8B84A98388E}"/>
              </a:ext>
            </a:extLst>
          </p:cNvPr>
          <p:cNvGrpSpPr/>
          <p:nvPr userDrawn="1"/>
        </p:nvGrpSpPr>
        <p:grpSpPr>
          <a:xfrm>
            <a:off x="6266614" y="6405157"/>
            <a:ext cx="2750928" cy="482755"/>
            <a:chOff x="3032951" y="5181656"/>
            <a:chExt cx="3721289" cy="653042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1F2078E9-F9FA-4F83-A179-A5A051BFC7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25" t="40557" r="9793" b="14162"/>
            <a:stretch/>
          </p:blipFill>
          <p:spPr>
            <a:xfrm>
              <a:off x="5201221" y="5181656"/>
              <a:ext cx="1553019" cy="564586"/>
            </a:xfrm>
            <a:prstGeom prst="rect">
              <a:avLst/>
            </a:prstGeom>
          </p:spPr>
        </p:pic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559D875E-50AF-4346-A209-392884787B12}"/>
                </a:ext>
              </a:extLst>
            </p:cNvPr>
            <p:cNvGrpSpPr/>
            <p:nvPr userDrawn="1"/>
          </p:nvGrpSpPr>
          <p:grpSpPr>
            <a:xfrm>
              <a:off x="3032951" y="5201920"/>
              <a:ext cx="2239497" cy="632778"/>
              <a:chOff x="673701" y="1950795"/>
              <a:chExt cx="5620095" cy="1587978"/>
            </a:xfrm>
          </p:grpSpPr>
          <p:pic>
            <p:nvPicPr>
              <p:cNvPr id="19" name="圖片 18">
                <a:extLst>
                  <a:ext uri="{FF2B5EF4-FFF2-40B4-BE49-F238E27FC236}">
                    <a16:creationId xmlns:a16="http://schemas.microsoft.com/office/drawing/2014/main" id="{BD936BB2-3A6B-4BAD-8719-51E1B5D2DA72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517" b="51696"/>
              <a:stretch/>
            </p:blipFill>
            <p:spPr>
              <a:xfrm>
                <a:off x="673701" y="1950795"/>
                <a:ext cx="5441349" cy="1478205"/>
              </a:xfrm>
              <a:prstGeom prst="rect">
                <a:avLst/>
              </a:prstGeom>
            </p:spPr>
          </p:pic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1A55C700-030B-4824-9AD8-351CE370DFBB}"/>
                  </a:ext>
                </a:extLst>
              </p:cNvPr>
              <p:cNvSpPr/>
              <p:nvPr userDrawn="1"/>
            </p:nvSpPr>
            <p:spPr>
              <a:xfrm>
                <a:off x="5282119" y="3173648"/>
                <a:ext cx="1011677" cy="3651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888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EEA6-614F-4FB4-A212-A86BC1436DB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28F-9203-4D29-B33A-4027BA7F29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888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EEA6-614F-4FB4-A212-A86BC1436DB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28F-9203-4D29-B33A-4027BA7F29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822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EEA6-614F-4FB4-A212-A86BC1436DB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28F-9203-4D29-B33A-4027BA7F29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4375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EEA6-614F-4FB4-A212-A86BC1436DB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28F-9203-4D29-B33A-4027BA7F29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397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8EEA6-614F-4FB4-A212-A86BC1436DB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D28F-9203-4D29-B33A-4027BA7F29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14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群組 55">
            <a:extLst>
              <a:ext uri="{FF2B5EF4-FFF2-40B4-BE49-F238E27FC236}">
                <a16:creationId xmlns:a16="http://schemas.microsoft.com/office/drawing/2014/main" id="{F698BD34-32DF-4A34-996D-2480ECCA1964}"/>
              </a:ext>
            </a:extLst>
          </p:cNvPr>
          <p:cNvGrpSpPr/>
          <p:nvPr/>
        </p:nvGrpSpPr>
        <p:grpSpPr>
          <a:xfrm>
            <a:off x="941388" y="311785"/>
            <a:ext cx="7302500" cy="369887"/>
            <a:chOff x="941388" y="250825"/>
            <a:chExt cx="7302500" cy="369887"/>
          </a:xfrm>
        </p:grpSpPr>
        <p:cxnSp>
          <p:nvCxnSpPr>
            <p:cNvPr id="4" name="直線接點 3">
              <a:extLst>
                <a:ext uri="{FF2B5EF4-FFF2-40B4-BE49-F238E27FC236}">
                  <a16:creationId xmlns:a16="http://schemas.microsoft.com/office/drawing/2014/main" id="{0EA06E41-03D0-41C3-80D9-5E20D1C7F0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000" y="580405"/>
              <a:ext cx="6904440" cy="2191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テキスト ボックス 20">
              <a:extLst>
                <a:ext uri="{FF2B5EF4-FFF2-40B4-BE49-F238E27FC236}">
                  <a16:creationId xmlns:a16="http://schemas.microsoft.com/office/drawing/2014/main" id="{A896D894-EF0F-429D-B4B3-494B4B6E4E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388" y="250825"/>
              <a:ext cx="73025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Business Model Canvas</a:t>
              </a:r>
              <a:r>
                <a:rPr lang="ja-JP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        </a:t>
              </a:r>
              <a:r>
                <a:rPr lang="zh-TW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題目</a:t>
              </a:r>
              <a:r>
                <a:rPr lang="ja-JP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　「　　　　　　　　　　　　　　　　　　　　」</a:t>
              </a:r>
            </a:p>
          </p:txBody>
        </p:sp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A0912283-ED10-4193-8214-E4C086A97AF9}"/>
              </a:ext>
            </a:extLst>
          </p:cNvPr>
          <p:cNvGrpSpPr/>
          <p:nvPr/>
        </p:nvGrpSpPr>
        <p:grpSpPr>
          <a:xfrm>
            <a:off x="133216" y="826135"/>
            <a:ext cx="8942907" cy="5584825"/>
            <a:chOff x="179388" y="765175"/>
            <a:chExt cx="8942907" cy="5584825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8747704-3B4C-4B62-BE99-F2BF173316AD}"/>
                </a:ext>
              </a:extLst>
            </p:cNvPr>
            <p:cNvGrpSpPr/>
            <p:nvPr/>
          </p:nvGrpSpPr>
          <p:grpSpPr>
            <a:xfrm>
              <a:off x="7308850" y="765175"/>
              <a:ext cx="1813445" cy="4176713"/>
              <a:chOff x="7308850" y="765175"/>
              <a:chExt cx="1813445" cy="4176713"/>
            </a:xfrm>
          </p:grpSpPr>
          <p:sp>
            <p:nvSpPr>
              <p:cNvPr id="15" name="正方形/長方形 54">
                <a:extLst>
                  <a:ext uri="{FF2B5EF4-FFF2-40B4-BE49-F238E27FC236}">
                    <a16:creationId xmlns:a16="http://schemas.microsoft.com/office/drawing/2014/main" id="{CA87A4A8-0641-432F-9252-F5CF1788E549}"/>
                  </a:ext>
                </a:extLst>
              </p:cNvPr>
              <p:cNvSpPr/>
              <p:nvPr/>
            </p:nvSpPr>
            <p:spPr>
              <a:xfrm>
                <a:off x="7308850" y="765175"/>
                <a:ext cx="1743875" cy="417671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ja-JP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41" name="群組 40">
                <a:extLst>
                  <a:ext uri="{FF2B5EF4-FFF2-40B4-BE49-F238E27FC236}">
                    <a16:creationId xmlns:a16="http://schemas.microsoft.com/office/drawing/2014/main" id="{C158449D-0E3D-43B8-A66D-3CEA90CF980F}"/>
                  </a:ext>
                </a:extLst>
              </p:cNvPr>
              <p:cNvGrpSpPr/>
              <p:nvPr/>
            </p:nvGrpSpPr>
            <p:grpSpPr>
              <a:xfrm>
                <a:off x="7308850" y="839606"/>
                <a:ext cx="1813445" cy="550535"/>
                <a:chOff x="7308850" y="839606"/>
                <a:chExt cx="1813445" cy="550535"/>
              </a:xfrm>
            </p:grpSpPr>
            <p:sp>
              <p:nvSpPr>
                <p:cNvPr id="17" name="正方形/長方形 64">
                  <a:extLst>
                    <a:ext uri="{FF2B5EF4-FFF2-40B4-BE49-F238E27FC236}">
                      <a16:creationId xmlns:a16="http://schemas.microsoft.com/office/drawing/2014/main" id="{331E6031-9650-4F36-9218-DA400ABAF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08850" y="866921"/>
                  <a:ext cx="181344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客戶區隔</a:t>
                  </a:r>
                  <a:endParaRPr lang="en-US" altLang="ja-JP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ja-JP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Customer Segment</a:t>
                  </a:r>
                  <a:endParaRPr lang="ja-JP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5" name="円/楕円 24">
                  <a:extLst>
                    <a:ext uri="{FF2B5EF4-FFF2-40B4-BE49-F238E27FC236}">
                      <a16:creationId xmlns:a16="http://schemas.microsoft.com/office/drawing/2014/main" id="{951867EF-E958-4FEE-B8AC-71ECABCF4139}"/>
                    </a:ext>
                  </a:extLst>
                </p:cNvPr>
                <p:cNvSpPr/>
                <p:nvPr/>
              </p:nvSpPr>
              <p:spPr>
                <a:xfrm>
                  <a:off x="8677275" y="839606"/>
                  <a:ext cx="287337" cy="288925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ja-JP" sz="1600" b="1" dirty="0">
                      <a:solidFill>
                        <a:schemeClr val="bg1"/>
                      </a:solidFill>
                      <a:latin typeface="Lucida Sans" pitchFamily="34" charset="0"/>
                    </a:rPr>
                    <a:t>1</a:t>
                  </a:r>
                  <a:endParaRPr lang="ja-JP" altLang="en-US" sz="1600" b="1" dirty="0">
                    <a:solidFill>
                      <a:schemeClr val="bg1"/>
                    </a:solidFill>
                    <a:latin typeface="Lucida Sans" pitchFamily="34" charset="0"/>
                  </a:endParaRPr>
                </a:p>
              </p:txBody>
            </p:sp>
          </p:grpSp>
        </p:grp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FE2D4CD2-5668-46AB-A93B-BC2EA0901457}"/>
                </a:ext>
              </a:extLst>
            </p:cNvPr>
            <p:cNvGrpSpPr/>
            <p:nvPr/>
          </p:nvGrpSpPr>
          <p:grpSpPr>
            <a:xfrm>
              <a:off x="3708400" y="765175"/>
              <a:ext cx="1727200" cy="4176713"/>
              <a:chOff x="3708400" y="765175"/>
              <a:chExt cx="1727200" cy="4176713"/>
            </a:xfrm>
          </p:grpSpPr>
          <p:sp>
            <p:nvSpPr>
              <p:cNvPr id="8" name="正方形/長方形 46">
                <a:extLst>
                  <a:ext uri="{FF2B5EF4-FFF2-40B4-BE49-F238E27FC236}">
                    <a16:creationId xmlns:a16="http://schemas.microsoft.com/office/drawing/2014/main" id="{F5F3582D-5B8A-4BB4-941B-566BF6FB4D2F}"/>
                  </a:ext>
                </a:extLst>
              </p:cNvPr>
              <p:cNvSpPr/>
              <p:nvPr/>
            </p:nvSpPr>
            <p:spPr>
              <a:xfrm>
                <a:off x="3708400" y="765175"/>
                <a:ext cx="1727200" cy="417671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ja-JP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39" name="群組 38">
                <a:extLst>
                  <a:ext uri="{FF2B5EF4-FFF2-40B4-BE49-F238E27FC236}">
                    <a16:creationId xmlns:a16="http://schemas.microsoft.com/office/drawing/2014/main" id="{DC34170A-C845-4ABF-9644-6AC0AFC72DDD}"/>
                  </a:ext>
                </a:extLst>
              </p:cNvPr>
              <p:cNvGrpSpPr/>
              <p:nvPr/>
            </p:nvGrpSpPr>
            <p:grpSpPr>
              <a:xfrm>
                <a:off x="3708400" y="839606"/>
                <a:ext cx="1666995" cy="552908"/>
                <a:chOff x="3708400" y="839606"/>
                <a:chExt cx="1666995" cy="552908"/>
              </a:xfrm>
            </p:grpSpPr>
            <p:sp>
              <p:nvSpPr>
                <p:cNvPr id="18" name="正方形/長方形 65">
                  <a:extLst>
                    <a:ext uri="{FF2B5EF4-FFF2-40B4-BE49-F238E27FC236}">
                      <a16:creationId xmlns:a16="http://schemas.microsoft.com/office/drawing/2014/main" id="{D375754E-5CE9-4D0A-8D47-BAB6A34942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8400" y="869294"/>
                  <a:ext cx="166699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價值主張</a:t>
                  </a:r>
                  <a:endParaRPr lang="en-US" altLang="ja-JP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ja-JP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Value Proposition</a:t>
                  </a:r>
                  <a:endParaRPr lang="ja-JP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6" name="円/楕円 25">
                  <a:extLst>
                    <a:ext uri="{FF2B5EF4-FFF2-40B4-BE49-F238E27FC236}">
                      <a16:creationId xmlns:a16="http://schemas.microsoft.com/office/drawing/2014/main" id="{8800C37E-C8DB-42E3-947B-A2627F443595}"/>
                    </a:ext>
                  </a:extLst>
                </p:cNvPr>
                <p:cNvSpPr/>
                <p:nvPr/>
              </p:nvSpPr>
              <p:spPr>
                <a:xfrm>
                  <a:off x="5072215" y="839606"/>
                  <a:ext cx="288925" cy="288925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ja-JP" sz="1600" b="1" dirty="0">
                      <a:solidFill>
                        <a:schemeClr val="bg1"/>
                      </a:solidFill>
                      <a:latin typeface="Lucida Sans" pitchFamily="34" charset="0"/>
                    </a:rPr>
                    <a:t>2</a:t>
                  </a:r>
                  <a:endParaRPr lang="ja-JP" altLang="en-US" sz="1600" b="1" dirty="0">
                    <a:solidFill>
                      <a:schemeClr val="bg1"/>
                    </a:solidFill>
                    <a:latin typeface="Lucida Sans" pitchFamily="34" charset="0"/>
                  </a:endParaRPr>
                </a:p>
              </p:txBody>
            </p:sp>
          </p:grp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F39D5111-0DCA-4547-934D-3C0914EC3898}"/>
                </a:ext>
              </a:extLst>
            </p:cNvPr>
            <p:cNvGrpSpPr/>
            <p:nvPr/>
          </p:nvGrpSpPr>
          <p:grpSpPr>
            <a:xfrm>
              <a:off x="5508625" y="2924175"/>
              <a:ext cx="1727200" cy="2017713"/>
              <a:chOff x="5508625" y="2924175"/>
              <a:chExt cx="1727200" cy="2017713"/>
            </a:xfrm>
          </p:grpSpPr>
          <p:sp>
            <p:nvSpPr>
              <p:cNvPr id="12" name="正方形/長方形 51">
                <a:extLst>
                  <a:ext uri="{FF2B5EF4-FFF2-40B4-BE49-F238E27FC236}">
                    <a16:creationId xmlns:a16="http://schemas.microsoft.com/office/drawing/2014/main" id="{C4A227DC-E8F4-4C24-A1D2-77D0AB512D9E}"/>
                  </a:ext>
                </a:extLst>
              </p:cNvPr>
              <p:cNvSpPr/>
              <p:nvPr/>
            </p:nvSpPr>
            <p:spPr>
              <a:xfrm>
                <a:off x="5508625" y="2924175"/>
                <a:ext cx="1727200" cy="201771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ja-JP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42" name="群組 41">
                <a:extLst>
                  <a:ext uri="{FF2B5EF4-FFF2-40B4-BE49-F238E27FC236}">
                    <a16:creationId xmlns:a16="http://schemas.microsoft.com/office/drawing/2014/main" id="{1770F803-C491-484F-B106-75D1950D20B0}"/>
                  </a:ext>
                </a:extLst>
              </p:cNvPr>
              <p:cNvGrpSpPr/>
              <p:nvPr/>
            </p:nvGrpSpPr>
            <p:grpSpPr>
              <a:xfrm>
                <a:off x="5508625" y="2924175"/>
                <a:ext cx="1662636" cy="523220"/>
                <a:chOff x="5508625" y="2924175"/>
                <a:chExt cx="1662636" cy="523220"/>
              </a:xfrm>
            </p:grpSpPr>
            <p:sp>
              <p:nvSpPr>
                <p:cNvPr id="19" name="正方形/長方形 66">
                  <a:extLst>
                    <a:ext uri="{FF2B5EF4-FFF2-40B4-BE49-F238E27FC236}">
                      <a16:creationId xmlns:a16="http://schemas.microsoft.com/office/drawing/2014/main" id="{308C06F2-D7AB-4186-BB93-8424598E96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8625" y="2924175"/>
                  <a:ext cx="877163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通路</a:t>
                  </a:r>
                  <a:endParaRPr lang="en-US" altLang="ja-JP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ja-JP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Channel</a:t>
                  </a:r>
                  <a:endParaRPr lang="ja-JP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7" name="円/楕円 26">
                  <a:extLst>
                    <a:ext uri="{FF2B5EF4-FFF2-40B4-BE49-F238E27FC236}">
                      <a16:creationId xmlns:a16="http://schemas.microsoft.com/office/drawing/2014/main" id="{2CB67AF1-93E8-4355-87FB-B70AB9E05AF0}"/>
                    </a:ext>
                  </a:extLst>
                </p:cNvPr>
                <p:cNvSpPr/>
                <p:nvPr/>
              </p:nvSpPr>
              <p:spPr>
                <a:xfrm>
                  <a:off x="6882336" y="2997200"/>
                  <a:ext cx="288925" cy="288925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en-US" altLang="ja-JP" sz="1600" b="1" dirty="0">
                      <a:solidFill>
                        <a:schemeClr val="bg1"/>
                      </a:solidFill>
                      <a:latin typeface="Lucida Sans" panose="020B0604020202020204" pitchFamily="34" charset="0"/>
                    </a:rPr>
                    <a:t>3</a:t>
                  </a:r>
                </a:p>
              </p:txBody>
            </p:sp>
          </p:grpSp>
        </p:grp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C4DE150C-7CA8-4C1F-88FB-873597A69DE5}"/>
                </a:ext>
              </a:extLst>
            </p:cNvPr>
            <p:cNvGrpSpPr/>
            <p:nvPr/>
          </p:nvGrpSpPr>
          <p:grpSpPr>
            <a:xfrm>
              <a:off x="5508625" y="765175"/>
              <a:ext cx="1743875" cy="2087563"/>
              <a:chOff x="5508625" y="765175"/>
              <a:chExt cx="1743875" cy="2087563"/>
            </a:xfrm>
          </p:grpSpPr>
          <p:sp>
            <p:nvSpPr>
              <p:cNvPr id="11" name="正方形/長方形 50">
                <a:extLst>
                  <a:ext uri="{FF2B5EF4-FFF2-40B4-BE49-F238E27FC236}">
                    <a16:creationId xmlns:a16="http://schemas.microsoft.com/office/drawing/2014/main" id="{1EF5F22F-702D-402B-9096-CA5CD560907B}"/>
                  </a:ext>
                </a:extLst>
              </p:cNvPr>
              <p:cNvSpPr/>
              <p:nvPr/>
            </p:nvSpPr>
            <p:spPr>
              <a:xfrm>
                <a:off x="5508625" y="765175"/>
                <a:ext cx="1727200" cy="208756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ja-JP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40" name="群組 39">
                <a:extLst>
                  <a:ext uri="{FF2B5EF4-FFF2-40B4-BE49-F238E27FC236}">
                    <a16:creationId xmlns:a16="http://schemas.microsoft.com/office/drawing/2014/main" id="{68FF09FA-8855-4973-9870-44E1D5705075}"/>
                  </a:ext>
                </a:extLst>
              </p:cNvPr>
              <p:cNvGrpSpPr/>
              <p:nvPr/>
            </p:nvGrpSpPr>
            <p:grpSpPr>
              <a:xfrm>
                <a:off x="5508625" y="839606"/>
                <a:ext cx="1743875" cy="552908"/>
                <a:chOff x="5508625" y="839606"/>
                <a:chExt cx="1743875" cy="552908"/>
              </a:xfrm>
            </p:grpSpPr>
            <p:sp>
              <p:nvSpPr>
                <p:cNvPr id="20" name="正方形/長方形 67">
                  <a:extLst>
                    <a:ext uri="{FF2B5EF4-FFF2-40B4-BE49-F238E27FC236}">
                      <a16:creationId xmlns:a16="http://schemas.microsoft.com/office/drawing/2014/main" id="{2F856274-2417-457F-AB7D-83E4F4BC93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8625" y="869294"/>
                  <a:ext cx="174387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客戶關係</a:t>
                  </a:r>
                  <a:endParaRPr lang="en-US" altLang="ja-JP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ja-JP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Customer Relation</a:t>
                  </a:r>
                  <a:endParaRPr lang="ja-JP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8" name="円/楕円 27">
                  <a:extLst>
                    <a:ext uri="{FF2B5EF4-FFF2-40B4-BE49-F238E27FC236}">
                      <a16:creationId xmlns:a16="http://schemas.microsoft.com/office/drawing/2014/main" id="{5B68E3DC-066C-4B46-A25D-694954E0E0DC}"/>
                    </a:ext>
                  </a:extLst>
                </p:cNvPr>
                <p:cNvSpPr/>
                <p:nvPr/>
              </p:nvSpPr>
              <p:spPr>
                <a:xfrm>
                  <a:off x="6882336" y="839606"/>
                  <a:ext cx="288925" cy="288925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en-US" altLang="ja-JP" sz="1600" b="1" dirty="0">
                      <a:solidFill>
                        <a:schemeClr val="bg1"/>
                      </a:solidFill>
                      <a:latin typeface="Lucida Sans" panose="020B0604020202020204" pitchFamily="34" charset="0"/>
                    </a:rPr>
                    <a:t>4</a:t>
                  </a:r>
                </a:p>
              </p:txBody>
            </p:sp>
          </p:grpSp>
        </p:grpSp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900FE082-CB7F-420A-A2E1-86B6751A4D8C}"/>
                </a:ext>
              </a:extLst>
            </p:cNvPr>
            <p:cNvGrpSpPr/>
            <p:nvPr/>
          </p:nvGrpSpPr>
          <p:grpSpPr>
            <a:xfrm>
              <a:off x="4643438" y="5013326"/>
              <a:ext cx="4392612" cy="1336674"/>
              <a:chOff x="4643438" y="5013326"/>
              <a:chExt cx="4392612" cy="1336674"/>
            </a:xfrm>
          </p:grpSpPr>
          <p:sp>
            <p:nvSpPr>
              <p:cNvPr id="7" name="正方形/長方形 42">
                <a:extLst>
                  <a:ext uri="{FF2B5EF4-FFF2-40B4-BE49-F238E27FC236}">
                    <a16:creationId xmlns:a16="http://schemas.microsoft.com/office/drawing/2014/main" id="{A0CBFC3E-EA01-417D-AED5-CA93E5E7C9B3}"/>
                  </a:ext>
                </a:extLst>
              </p:cNvPr>
              <p:cNvSpPr/>
              <p:nvPr/>
            </p:nvSpPr>
            <p:spPr>
              <a:xfrm>
                <a:off x="4643438" y="5013326"/>
                <a:ext cx="4392612" cy="133667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ja-JP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B83A8A3-F4BF-46D3-9D11-AC68500699B2}"/>
                  </a:ext>
                </a:extLst>
              </p:cNvPr>
              <p:cNvGrpSpPr/>
              <p:nvPr/>
            </p:nvGrpSpPr>
            <p:grpSpPr>
              <a:xfrm>
                <a:off x="4643438" y="5061453"/>
                <a:ext cx="1807904" cy="523220"/>
                <a:chOff x="4643438" y="5061453"/>
                <a:chExt cx="1807904" cy="523220"/>
              </a:xfrm>
            </p:grpSpPr>
            <p:sp>
              <p:nvSpPr>
                <p:cNvPr id="21" name="正方形/長方形 68">
                  <a:extLst>
                    <a:ext uri="{FF2B5EF4-FFF2-40B4-BE49-F238E27FC236}">
                      <a16:creationId xmlns:a16="http://schemas.microsoft.com/office/drawing/2014/main" id="{D497D75C-0AC8-46DB-B700-6C69AB7E8C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3438" y="5061453"/>
                  <a:ext cx="1543051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ja-JP" alt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収入</a:t>
                  </a:r>
                  <a:r>
                    <a:rPr lang="zh-TW" alt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來源</a:t>
                  </a:r>
                  <a:endParaRPr lang="en-US" altLang="ja-JP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ja-JP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Revenue Stream</a:t>
                  </a:r>
                  <a:endParaRPr lang="ja-JP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9" name="円/楕円 28">
                  <a:extLst>
                    <a:ext uri="{FF2B5EF4-FFF2-40B4-BE49-F238E27FC236}">
                      <a16:creationId xmlns:a16="http://schemas.microsoft.com/office/drawing/2014/main" id="{C2153B4F-3FA7-4EB6-84E7-35ECA382AAAD}"/>
                    </a:ext>
                  </a:extLst>
                </p:cNvPr>
                <p:cNvSpPr/>
                <p:nvPr/>
              </p:nvSpPr>
              <p:spPr>
                <a:xfrm>
                  <a:off x="6162417" y="5084763"/>
                  <a:ext cx="288925" cy="288925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en-US" altLang="ja-JP" sz="1600" b="1" dirty="0">
                      <a:solidFill>
                        <a:schemeClr val="bg1"/>
                      </a:solidFill>
                      <a:latin typeface="Lucida Sans" panose="020B0604020202020204" pitchFamily="34" charset="0"/>
                    </a:rPr>
                    <a:t>5</a:t>
                  </a:r>
                </a:p>
              </p:txBody>
            </p:sp>
          </p:grpSp>
        </p:grpSp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ECD9B745-14C9-4318-9534-97D616879216}"/>
                </a:ext>
              </a:extLst>
            </p:cNvPr>
            <p:cNvGrpSpPr/>
            <p:nvPr/>
          </p:nvGrpSpPr>
          <p:grpSpPr>
            <a:xfrm>
              <a:off x="1908175" y="2924175"/>
              <a:ext cx="1727200" cy="2017713"/>
              <a:chOff x="1908175" y="2924175"/>
              <a:chExt cx="1727200" cy="2017713"/>
            </a:xfrm>
          </p:grpSpPr>
          <p:sp>
            <p:nvSpPr>
              <p:cNvPr id="14" name="正方形/長方形 53">
                <a:extLst>
                  <a:ext uri="{FF2B5EF4-FFF2-40B4-BE49-F238E27FC236}">
                    <a16:creationId xmlns:a16="http://schemas.microsoft.com/office/drawing/2014/main" id="{8ABA04D1-7E3A-4B7C-A537-51AE9A08C2C0}"/>
                  </a:ext>
                </a:extLst>
              </p:cNvPr>
              <p:cNvSpPr/>
              <p:nvPr/>
            </p:nvSpPr>
            <p:spPr>
              <a:xfrm>
                <a:off x="1908175" y="2924175"/>
                <a:ext cx="1727200" cy="201771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ja-JP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D6DF3D4E-8A1F-4D27-9F71-75215288D558}"/>
                  </a:ext>
                </a:extLst>
              </p:cNvPr>
              <p:cNvGrpSpPr/>
              <p:nvPr/>
            </p:nvGrpSpPr>
            <p:grpSpPr>
              <a:xfrm>
                <a:off x="1908175" y="2924175"/>
                <a:ext cx="1663024" cy="523220"/>
                <a:chOff x="1908175" y="2924175"/>
                <a:chExt cx="1663024" cy="523220"/>
              </a:xfrm>
            </p:grpSpPr>
            <p:sp>
              <p:nvSpPr>
                <p:cNvPr id="22" name="正方形/長方形 69">
                  <a:extLst>
                    <a:ext uri="{FF2B5EF4-FFF2-40B4-BE49-F238E27FC236}">
                      <a16:creationId xmlns:a16="http://schemas.microsoft.com/office/drawing/2014/main" id="{AFDC143B-8E7E-4284-B6A6-5D1E9E3738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08175" y="2924175"/>
                  <a:ext cx="1304203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核心資源</a:t>
                  </a:r>
                  <a:endParaRPr lang="en-US" altLang="ja-JP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ja-JP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Key Resource</a:t>
                  </a:r>
                  <a:endParaRPr lang="ja-JP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0" name="円/楕円 29">
                  <a:extLst>
                    <a:ext uri="{FF2B5EF4-FFF2-40B4-BE49-F238E27FC236}">
                      <a16:creationId xmlns:a16="http://schemas.microsoft.com/office/drawing/2014/main" id="{F77B3E33-E9D2-412E-AD6B-B3E57D303747}"/>
                    </a:ext>
                  </a:extLst>
                </p:cNvPr>
                <p:cNvSpPr/>
                <p:nvPr/>
              </p:nvSpPr>
              <p:spPr>
                <a:xfrm>
                  <a:off x="3282274" y="2997199"/>
                  <a:ext cx="288925" cy="288925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en-US" altLang="ja-JP" sz="1600" b="1" dirty="0">
                      <a:solidFill>
                        <a:schemeClr val="bg1"/>
                      </a:solidFill>
                      <a:latin typeface="Lucida Sans" panose="020B0604020202020204" pitchFamily="34" charset="0"/>
                    </a:rPr>
                    <a:t>6</a:t>
                  </a:r>
                </a:p>
              </p:txBody>
            </p:sp>
          </p:grpSp>
        </p:grpSp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583EE9F5-2AA2-40D8-B584-34DFA6584AE0}"/>
                </a:ext>
              </a:extLst>
            </p:cNvPr>
            <p:cNvGrpSpPr/>
            <p:nvPr/>
          </p:nvGrpSpPr>
          <p:grpSpPr>
            <a:xfrm>
              <a:off x="1908175" y="765175"/>
              <a:ext cx="1727200" cy="2087563"/>
              <a:chOff x="1908175" y="765175"/>
              <a:chExt cx="1727200" cy="2087563"/>
            </a:xfrm>
          </p:grpSpPr>
          <p:sp>
            <p:nvSpPr>
              <p:cNvPr id="13" name="正方形/長方形 52">
                <a:extLst>
                  <a:ext uri="{FF2B5EF4-FFF2-40B4-BE49-F238E27FC236}">
                    <a16:creationId xmlns:a16="http://schemas.microsoft.com/office/drawing/2014/main" id="{1884162A-887F-4891-BED0-222305CBEB3C}"/>
                  </a:ext>
                </a:extLst>
              </p:cNvPr>
              <p:cNvSpPr/>
              <p:nvPr/>
            </p:nvSpPr>
            <p:spPr>
              <a:xfrm>
                <a:off x="1908175" y="765175"/>
                <a:ext cx="1727200" cy="208756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ja-JP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07C1E1B9-D346-40F4-8E94-0553DD69B1BA}"/>
                  </a:ext>
                </a:extLst>
              </p:cNvPr>
              <p:cNvGrpSpPr/>
              <p:nvPr/>
            </p:nvGrpSpPr>
            <p:grpSpPr>
              <a:xfrm>
                <a:off x="1908175" y="765175"/>
                <a:ext cx="1663023" cy="523220"/>
                <a:chOff x="1908175" y="765175"/>
                <a:chExt cx="1663023" cy="523220"/>
              </a:xfrm>
            </p:grpSpPr>
            <p:sp>
              <p:nvSpPr>
                <p:cNvPr id="23" name="正方形/長方形 70">
                  <a:extLst>
                    <a:ext uri="{FF2B5EF4-FFF2-40B4-BE49-F238E27FC236}">
                      <a16:creationId xmlns:a16="http://schemas.microsoft.com/office/drawing/2014/main" id="{21AAE1B1-47D9-41DF-9BE6-70C9FBC24E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08175" y="765175"/>
                  <a:ext cx="1156727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關鍵</a:t>
                  </a:r>
                  <a:r>
                    <a:rPr lang="ja-JP" alt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活動</a:t>
                  </a:r>
                  <a:endParaRPr lang="en-US" altLang="ja-JP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ja-JP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Key Activity</a:t>
                  </a:r>
                  <a:endParaRPr lang="ja-JP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1" name="円/楕円 30">
                  <a:extLst>
                    <a:ext uri="{FF2B5EF4-FFF2-40B4-BE49-F238E27FC236}">
                      <a16:creationId xmlns:a16="http://schemas.microsoft.com/office/drawing/2014/main" id="{8C4486BB-20AC-4C6D-A7DC-56AA3A02341C}"/>
                    </a:ext>
                  </a:extLst>
                </p:cNvPr>
                <p:cNvSpPr/>
                <p:nvPr/>
              </p:nvSpPr>
              <p:spPr>
                <a:xfrm>
                  <a:off x="3282273" y="839606"/>
                  <a:ext cx="288925" cy="288925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en-US" altLang="ja-JP" sz="1600" b="1" dirty="0">
                      <a:solidFill>
                        <a:schemeClr val="bg1"/>
                      </a:solidFill>
                      <a:latin typeface="Lucida Sans" panose="020B0604020202020204" pitchFamily="34" charset="0"/>
                    </a:rPr>
                    <a:t>7</a:t>
                  </a:r>
                </a:p>
              </p:txBody>
            </p:sp>
          </p:grpSp>
        </p:grp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663C7164-D39E-4332-B28B-B4F24CC1073B}"/>
                </a:ext>
              </a:extLst>
            </p:cNvPr>
            <p:cNvGrpSpPr/>
            <p:nvPr/>
          </p:nvGrpSpPr>
          <p:grpSpPr>
            <a:xfrm>
              <a:off x="179388" y="765175"/>
              <a:ext cx="1655762" cy="4176713"/>
              <a:chOff x="179388" y="765175"/>
              <a:chExt cx="1655762" cy="4176713"/>
            </a:xfrm>
          </p:grpSpPr>
          <p:sp>
            <p:nvSpPr>
              <p:cNvPr id="10" name="正方形/長方形 49">
                <a:extLst>
                  <a:ext uri="{FF2B5EF4-FFF2-40B4-BE49-F238E27FC236}">
                    <a16:creationId xmlns:a16="http://schemas.microsoft.com/office/drawing/2014/main" id="{B53177EF-CF0D-4612-A7D7-6A5E6C617E7F}"/>
                  </a:ext>
                </a:extLst>
              </p:cNvPr>
              <p:cNvSpPr/>
              <p:nvPr/>
            </p:nvSpPr>
            <p:spPr>
              <a:xfrm>
                <a:off x="179388" y="765175"/>
                <a:ext cx="1655762" cy="417671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ja-JP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E92CBC71-F0D7-4DD0-AF7E-EBAF9A7F7A13}"/>
                  </a:ext>
                </a:extLst>
              </p:cNvPr>
              <p:cNvGrpSpPr/>
              <p:nvPr/>
            </p:nvGrpSpPr>
            <p:grpSpPr>
              <a:xfrm>
                <a:off x="179388" y="765175"/>
                <a:ext cx="1523962" cy="523220"/>
                <a:chOff x="179388" y="765175"/>
                <a:chExt cx="1523962" cy="523220"/>
              </a:xfrm>
            </p:grpSpPr>
            <p:sp>
              <p:nvSpPr>
                <p:cNvPr id="16" name="正方形/長方形 55">
                  <a:extLst>
                    <a:ext uri="{FF2B5EF4-FFF2-40B4-BE49-F238E27FC236}">
                      <a16:creationId xmlns:a16="http://schemas.microsoft.com/office/drawing/2014/main" id="{1A3F4391-3FFE-4C23-8B7D-CC4A48CAB3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388" y="765175"/>
                  <a:ext cx="114813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主要夥伴</a:t>
                  </a:r>
                  <a:endParaRPr lang="en-US" altLang="ja-JP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ja-JP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Key Partner</a:t>
                  </a:r>
                  <a:endParaRPr lang="ja-JP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2" name="円/楕円 31">
                  <a:extLst>
                    <a:ext uri="{FF2B5EF4-FFF2-40B4-BE49-F238E27FC236}">
                      <a16:creationId xmlns:a16="http://schemas.microsoft.com/office/drawing/2014/main" id="{8579A39E-6B1A-4280-B474-FC296323F1DB}"/>
                    </a:ext>
                  </a:extLst>
                </p:cNvPr>
                <p:cNvSpPr/>
                <p:nvPr/>
              </p:nvSpPr>
              <p:spPr>
                <a:xfrm>
                  <a:off x="1414425" y="839606"/>
                  <a:ext cx="288925" cy="288925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en-US" altLang="ja-JP" sz="1600" b="1" dirty="0">
                      <a:solidFill>
                        <a:schemeClr val="bg1"/>
                      </a:solidFill>
                      <a:latin typeface="Lucida Sans" panose="020B0604020202020204" pitchFamily="34" charset="0"/>
                    </a:rPr>
                    <a:t>8</a:t>
                  </a:r>
                </a:p>
              </p:txBody>
            </p:sp>
          </p:grp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8423DF60-E61F-4A2E-8D12-4E5EA0E13497}"/>
                </a:ext>
              </a:extLst>
            </p:cNvPr>
            <p:cNvGrpSpPr/>
            <p:nvPr/>
          </p:nvGrpSpPr>
          <p:grpSpPr>
            <a:xfrm>
              <a:off x="179388" y="5013325"/>
              <a:ext cx="4392612" cy="1336675"/>
              <a:chOff x="179388" y="5013325"/>
              <a:chExt cx="4392612" cy="1336675"/>
            </a:xfrm>
          </p:grpSpPr>
          <p:sp>
            <p:nvSpPr>
              <p:cNvPr id="6" name="正方形/長方形 38">
                <a:extLst>
                  <a:ext uri="{FF2B5EF4-FFF2-40B4-BE49-F238E27FC236}">
                    <a16:creationId xmlns:a16="http://schemas.microsoft.com/office/drawing/2014/main" id="{D2516032-30FC-487E-AD72-755973568ADD}"/>
                  </a:ext>
                </a:extLst>
              </p:cNvPr>
              <p:cNvSpPr/>
              <p:nvPr/>
            </p:nvSpPr>
            <p:spPr>
              <a:xfrm>
                <a:off x="179388" y="5013326"/>
                <a:ext cx="4392612" cy="133667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ja-JP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44" name="群組 43">
                <a:extLst>
                  <a:ext uri="{FF2B5EF4-FFF2-40B4-BE49-F238E27FC236}">
                    <a16:creationId xmlns:a16="http://schemas.microsoft.com/office/drawing/2014/main" id="{F3D89698-86A3-4979-A2BE-24FEB35C8253}"/>
                  </a:ext>
                </a:extLst>
              </p:cNvPr>
              <p:cNvGrpSpPr/>
              <p:nvPr/>
            </p:nvGrpSpPr>
            <p:grpSpPr>
              <a:xfrm>
                <a:off x="179388" y="5013325"/>
                <a:ext cx="1631689" cy="523220"/>
                <a:chOff x="179388" y="5013325"/>
                <a:chExt cx="1631689" cy="523220"/>
              </a:xfrm>
            </p:grpSpPr>
            <p:sp>
              <p:nvSpPr>
                <p:cNvPr id="24" name="正方形/長方形 71">
                  <a:extLst>
                    <a:ext uri="{FF2B5EF4-FFF2-40B4-BE49-F238E27FC236}">
                      <a16:creationId xmlns:a16="http://schemas.microsoft.com/office/drawing/2014/main" id="{23589515-23D3-40EE-BC27-1D8E23E27D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388" y="5013325"/>
                  <a:ext cx="1379737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kumimoji="1"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kumimoji="1"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成本結構</a:t>
                  </a:r>
                  <a:endParaRPr lang="en-US" altLang="ja-JP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ja-JP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  <a:ea typeface="+mn-ea"/>
                    </a:rPr>
                    <a:t>Cost Structure</a:t>
                  </a:r>
                  <a:endParaRPr lang="ja-JP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3" name="円/楕円 32">
                  <a:extLst>
                    <a:ext uri="{FF2B5EF4-FFF2-40B4-BE49-F238E27FC236}">
                      <a16:creationId xmlns:a16="http://schemas.microsoft.com/office/drawing/2014/main" id="{607B4C23-BA7D-492B-BB55-F027744E32CD}"/>
                    </a:ext>
                  </a:extLst>
                </p:cNvPr>
                <p:cNvSpPr/>
                <p:nvPr/>
              </p:nvSpPr>
              <p:spPr>
                <a:xfrm>
                  <a:off x="1523739" y="5084763"/>
                  <a:ext cx="287338" cy="288925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en-US" altLang="ja-JP" sz="1600" b="1" dirty="0">
                      <a:solidFill>
                        <a:schemeClr val="bg1"/>
                      </a:solidFill>
                      <a:latin typeface="Lucida Sans" panose="020B0604020202020204" pitchFamily="34" charset="0"/>
                    </a:rPr>
                    <a:t>9</a:t>
                  </a:r>
                </a:p>
              </p:txBody>
            </p:sp>
          </p:grpSp>
        </p:grpSp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8F961E0B-E783-A372-B043-04C7C3C7B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F8A535A-0DCD-AFD3-A365-9F4BD5E21A65}"/>
              </a:ext>
            </a:extLst>
          </p:cNvPr>
          <p:cNvSpPr txBox="1"/>
          <p:nvPr/>
        </p:nvSpPr>
        <p:spPr>
          <a:xfrm>
            <a:off x="3650195" y="1483162"/>
            <a:ext cx="16669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無遊戲化設計培養真正自律家長可信任</a:t>
            </a:r>
            <a:endParaRPr lang="en-US" altLang="zh-TW" dirty="0"/>
          </a:p>
          <a:p>
            <a:r>
              <a:rPr lang="zh-TW" altLang="en-US" dirty="0"/>
              <a:t>實戰驗證</a:t>
            </a: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E3C2E39F-8F7A-2FA7-A1E9-B4648350BC83}"/>
              </a:ext>
            </a:extLst>
          </p:cNvPr>
          <p:cNvSpPr txBox="1"/>
          <p:nvPr/>
        </p:nvSpPr>
        <p:spPr>
          <a:xfrm>
            <a:off x="5450421" y="3628675"/>
            <a:ext cx="14647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GitHub </a:t>
            </a:r>
          </a:p>
          <a:p>
            <a:r>
              <a:rPr lang="zh-TW" altLang="en-US" dirty="0"/>
              <a:t>教養論壇</a:t>
            </a:r>
            <a:endParaRPr lang="en-US" altLang="zh-TW" dirty="0"/>
          </a:p>
          <a:p>
            <a:r>
              <a:rPr lang="zh-TW" altLang="en-US" dirty="0"/>
              <a:t>育兒社團</a:t>
            </a:r>
            <a:endParaRPr lang="en-US" altLang="zh-TW" dirty="0"/>
          </a:p>
          <a:p>
            <a:r>
              <a:rPr lang="zh-TW" altLang="en-US" dirty="0"/>
              <a:t>部落格文章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B18FA1F-A3D5-417E-A843-DC8969C0DF05}"/>
              </a:ext>
            </a:extLst>
          </p:cNvPr>
          <p:cNvSpPr txBox="1"/>
          <p:nvPr/>
        </p:nvSpPr>
        <p:spPr>
          <a:xfrm>
            <a:off x="5450421" y="1426156"/>
            <a:ext cx="12155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社群驅動</a:t>
            </a:r>
            <a:endParaRPr lang="en-US" altLang="zh-TW" dirty="0"/>
          </a:p>
          <a:p>
            <a:r>
              <a:rPr lang="zh-TW" altLang="en-US" dirty="0"/>
              <a:t>教育內容</a:t>
            </a:r>
            <a:endParaRPr lang="en-US" altLang="zh-TW" dirty="0"/>
          </a:p>
          <a:p>
            <a:r>
              <a:rPr lang="zh-TW" altLang="en-US" dirty="0"/>
              <a:t>持續對話</a:t>
            </a:r>
            <a:endParaRPr lang="en-US" altLang="zh-TW" dirty="0"/>
          </a:p>
          <a:p>
            <a:r>
              <a:rPr lang="zh-TW" altLang="en-US" dirty="0"/>
              <a:t>共同成長</a:t>
            </a:r>
            <a:endParaRPr lang="en-US" altLang="zh-TW" dirty="0"/>
          </a:p>
          <a:p>
            <a:r>
              <a:rPr lang="zh-TW" altLang="en-US" dirty="0"/>
              <a:t>透明開發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88CBA027-9977-6F8D-B74D-50E5D769D3DF}"/>
              </a:ext>
            </a:extLst>
          </p:cNvPr>
          <p:cNvSpPr txBox="1"/>
          <p:nvPr/>
        </p:nvSpPr>
        <p:spPr>
          <a:xfrm>
            <a:off x="4643492" y="5646388"/>
            <a:ext cx="4175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免費開源專案</a:t>
            </a:r>
            <a:endParaRPr lang="en-US" altLang="zh-TW" dirty="0"/>
          </a:p>
          <a:p>
            <a:r>
              <a:rPr lang="zh-TW" altLang="en-US" dirty="0"/>
              <a:t>目標是建立使用者基礎與品牌信任</a:t>
            </a: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AF8FE9C3-AB7C-2090-5451-FFB8A8444E6A}"/>
              </a:ext>
            </a:extLst>
          </p:cNvPr>
          <p:cNvSpPr txBox="1"/>
          <p:nvPr/>
        </p:nvSpPr>
        <p:spPr>
          <a:xfrm>
            <a:off x="1849971" y="3495900"/>
            <a:ext cx="46502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自身的開發能力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工程師</a:t>
            </a:r>
            <a:r>
              <a:rPr lang="en-US" altLang="zh-TW" dirty="0"/>
              <a:t>+</a:t>
            </a:r>
            <a:r>
              <a:rPr lang="zh-TW" altLang="en-US" dirty="0"/>
              <a:t>家長</a:t>
            </a:r>
            <a:endParaRPr lang="en-US" altLang="zh-TW" dirty="0"/>
          </a:p>
          <a:p>
            <a:r>
              <a:rPr lang="zh-TW" altLang="en-US" dirty="0"/>
              <a:t>雙重身份經驗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74EF87E4-7B1C-4EE7-72CD-5006FDFFF712}"/>
              </a:ext>
            </a:extLst>
          </p:cNvPr>
          <p:cNvSpPr txBox="1"/>
          <p:nvPr/>
        </p:nvSpPr>
        <p:spPr>
          <a:xfrm>
            <a:off x="1833296" y="1313125"/>
            <a:ext cx="172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收集家長使用反饋分析實際使用數據與痛點</a:t>
            </a: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AF4E9E74-A1EC-845D-D1FB-C4B7B28E25E9}"/>
              </a:ext>
            </a:extLst>
          </p:cNvPr>
          <p:cNvSpPr txBox="1"/>
          <p:nvPr/>
        </p:nvSpPr>
        <p:spPr>
          <a:xfrm>
            <a:off x="149479" y="1387487"/>
            <a:ext cx="15957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過去也都成為家長們的同學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親朋好友</a:t>
            </a: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179B7E3-2C09-7A7F-B530-A24A7C5E542E}"/>
              </a:ext>
            </a:extLst>
          </p:cNvPr>
          <p:cNvSpPr txBox="1"/>
          <p:nvPr/>
        </p:nvSpPr>
        <p:spPr>
          <a:xfrm>
            <a:off x="7323671" y="1518814"/>
            <a:ext cx="1727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‧ </a:t>
            </a:r>
            <a:r>
              <a:rPr lang="zh-TW" altLang="en-US" dirty="0"/>
              <a:t>關注孩子數位健康的家長</a:t>
            </a:r>
          </a:p>
          <a:p>
            <a:r>
              <a:rPr lang="en-US" altLang="zh-TW" dirty="0"/>
              <a:t>‧ </a:t>
            </a:r>
            <a:r>
              <a:rPr lang="zh-TW" altLang="en-US" dirty="0"/>
              <a:t>擔心孩子過度使用手機</a:t>
            </a:r>
            <a:r>
              <a:rPr lang="en-US" altLang="zh-TW" dirty="0"/>
              <a:t>/</a:t>
            </a:r>
            <a:r>
              <a:rPr lang="zh-TW" altLang="en-US" dirty="0"/>
              <a:t>平板的雙薪家庭 </a:t>
            </a:r>
          </a:p>
          <a:p>
            <a:r>
              <a:rPr lang="zh-TW" altLang="en-US" dirty="0"/>
              <a:t>重視教養方式</a:t>
            </a:r>
            <a:br>
              <a:rPr lang="zh-TW" altLang="en-US" dirty="0"/>
            </a:br>
            <a:r>
              <a:rPr lang="en-US" altLang="zh-TW" dirty="0"/>
              <a:t>‧ </a:t>
            </a:r>
            <a:r>
              <a:rPr lang="zh-TW" altLang="en-US" dirty="0"/>
              <a:t>希望培養孩子自律的現代父母</a:t>
            </a:r>
            <a:br>
              <a:rPr lang="zh-TW" altLang="en-US" dirty="0"/>
            </a:br>
            <a:r>
              <a:rPr lang="en-US" altLang="zh-TW" dirty="0"/>
              <a:t>------------------</a:t>
            </a:r>
          </a:p>
          <a:p>
            <a:r>
              <a:rPr lang="en-US" altLang="zh-TW" dirty="0"/>
              <a:t>‧ </a:t>
            </a:r>
            <a:r>
              <a:rPr lang="zh-TW" altLang="en-US" dirty="0"/>
              <a:t>學校教師</a:t>
            </a:r>
            <a:br>
              <a:rPr lang="zh-TW" altLang="en-US" dirty="0"/>
            </a:br>
            <a:r>
              <a:rPr lang="en-US" altLang="zh-TW" dirty="0"/>
              <a:t>‧ </a:t>
            </a:r>
            <a:r>
              <a:rPr lang="zh-TW" altLang="en-US" dirty="0"/>
              <a:t>安親班</a:t>
            </a: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86437498-F199-BA43-E16E-9F057982088D}"/>
              </a:ext>
            </a:extLst>
          </p:cNvPr>
          <p:cNvSpPr txBox="1"/>
          <p:nvPr/>
        </p:nvSpPr>
        <p:spPr>
          <a:xfrm>
            <a:off x="149479" y="5569059"/>
            <a:ext cx="4277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個人時間投入：業餘開發</a:t>
            </a:r>
            <a:endParaRPr lang="en-US" altLang="zh-TW" dirty="0"/>
          </a:p>
          <a:p>
            <a:r>
              <a:rPr lang="zh-TW" altLang="en-US" dirty="0"/>
              <a:t>託管平台：</a:t>
            </a:r>
            <a:r>
              <a:rPr lang="en-US" altLang="zh-TW" dirty="0"/>
              <a:t>GitHub </a:t>
            </a:r>
            <a:r>
              <a:rPr lang="zh-TW" altLang="en-US" dirty="0"/>
              <a:t>免費</a:t>
            </a:r>
          </a:p>
        </p:txBody>
      </p:sp>
    </p:spTree>
    <p:extLst>
      <p:ext uri="{BB962C8B-B14F-4D97-AF65-F5344CB8AC3E}">
        <p14:creationId xmlns:p14="http://schemas.microsoft.com/office/powerpoint/2010/main" val="3432295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4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384</TotalTime>
  <Words>317</Words>
  <Application>Microsoft Office PowerPoint</Application>
  <PresentationFormat>如螢幕大小 (4:3)</PresentationFormat>
  <Paragraphs>58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Arial</vt:lpstr>
      <vt:lpstr>Calibri</vt:lpstr>
      <vt:lpstr>Lucida Sans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中信金融管理學院 人財育成中心</dc:creator>
  <cp:lastModifiedBy>ccuser</cp:lastModifiedBy>
  <cp:revision>32</cp:revision>
  <dcterms:created xsi:type="dcterms:W3CDTF">2019-08-22T02:19:28Z</dcterms:created>
  <dcterms:modified xsi:type="dcterms:W3CDTF">2025-11-03T12:11:34Z</dcterms:modified>
</cp:coreProperties>
</file>